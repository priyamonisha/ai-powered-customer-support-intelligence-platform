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920240"/>
            <a:ext cx="12188952" cy="3017520"/>
          </a:xfrm>
          <a:prstGeom prst="rect">
            <a:avLst/>
          </a:prstGeom>
          <a:solidFill>
            <a:srgbClr val="0D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11680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AI-Powered Customer Support Intelligence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1546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ADD8E6"/>
                </a:solidFill>
              </a:rPr>
              <a:t>End-to-End ML System  |  NLP · Tabular ML · MLOps · Monitoring ·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118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85C1E9"/>
                </a:solidFill>
              </a:rPr>
              <a:t>Python · DistilBERT · XGBoost · LightGBM · FastAPI · Airflow · Docker · Plotly Dash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035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7F8C8D"/>
                </a:solidFill>
              </a:rPr>
              <a:t>PriyaMonisha  |  GUVI Data Science  |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371600"/>
            <a:ext cx="3657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>
                <a:solidFill>
                  <a:srgbClr val="2C3E50"/>
                </a:solidFill>
              </a:rPr>
              <a:t>• 1. Problem Statement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2C3E50"/>
                </a:solidFill>
              </a:rPr>
              <a:t>• 2. Dataset Overview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2C3E50"/>
                </a:solidFill>
              </a:rPr>
              <a:t>• 3. System Architecture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2C3E50"/>
                </a:solidFill>
              </a:rPr>
              <a:t>• 4. EDA &amp; Text Preprocessing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2C3E50"/>
                </a:solidFill>
              </a:rPr>
              <a:t>• 5. Feature Engineering &amp; Split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0" y="1371600"/>
            <a:ext cx="3657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>
                <a:solidFill>
                  <a:srgbClr val="2C3E50"/>
                </a:solidFill>
              </a:rPr>
              <a:t>• 6. ML Models &amp; Results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2C3E50"/>
                </a:solidFill>
              </a:rPr>
              <a:t>• 7. DistilBERT Fine-Tuning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2C3E50"/>
                </a:solidFill>
              </a:rPr>
              <a:t>• 8. Regression &amp; Clustering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2C3E50"/>
                </a:solidFill>
              </a:rPr>
              <a:t>• 9. Explainability (SHAP + Attention)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2C3E50"/>
                </a:solidFill>
              </a:rPr>
              <a:t>• 10. MLflow &amp; Model Registry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0" y="1371600"/>
            <a:ext cx="3657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600">
                <a:solidFill>
                  <a:srgbClr val="2C3E50"/>
                </a:solidFill>
              </a:rPr>
              <a:t>• 11. FastAPI Serving Layer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2C3E50"/>
                </a:solidFill>
              </a:rPr>
              <a:t>• 12. Monitoring Stack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2C3E50"/>
                </a:solidFill>
              </a:rPr>
              <a:t>• 13. Airflow Orchestration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2C3E50"/>
                </a:solidFill>
              </a:rPr>
              <a:t>• 14. Docker Compose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2C3E50"/>
                </a:solidFill>
              </a:rPr>
              <a:t>• 15. Plotly Dash Dashboard</a:t>
            </a:r>
          </a:p>
          <a:p>
            <a:pPr>
              <a:spcBef>
                <a:spcPts val="400"/>
              </a:spcBef>
            </a:pPr>
            <a:r>
              <a:rPr sz="1600">
                <a:solidFill>
                  <a:srgbClr val="2C3E50"/>
                </a:solidFill>
              </a:rPr>
              <a:t>• 16. Key Findings &amp; 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DD8E6"/>
                </a:solidFill>
              </a:rPr>
              <a:t>Manual ticket triage is slow, inconsistent, and expensive to scale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356616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0" y="1371600"/>
            <a:ext cx="356616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863840" y="1371600"/>
            <a:ext cx="3931920" cy="5029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371600"/>
            <a:ext cx="3474720" cy="384048"/>
          </a:xfrm>
          <a:prstGeom prst="rect">
            <a:avLst/>
          </a:prstGeom>
          <a:solidFill>
            <a:srgbClr val="177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389888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Task 1 — NLP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828800"/>
            <a:ext cx="3291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2C3E50"/>
                </a:solidFill>
              </a:rPr>
              <a:t>Ticket Type Classification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2C3E50"/>
                </a:solidFill>
              </a:rPr>
              <a:t>5 classes: Billing / Technical /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2C3E50"/>
                </a:solidFill>
              </a:rPr>
              <a:t>Cancellation / Product / Refund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2C3E50"/>
                </a:solidFill>
              </a:rPr>
              <a:t>Model: DistilBERT fine-tuned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2C3E50"/>
                </a:solidFill>
              </a:rPr>
              <a:t>Input: Subject + Description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0" y="1371600"/>
            <a:ext cx="3474720" cy="384048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06240" y="1389888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Task 2 — Tabular 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60" y="1828800"/>
            <a:ext cx="3291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2C3E50"/>
                </a:solidFill>
              </a:rPr>
              <a:t>Ticket Priority Prediction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2C3E50"/>
                </a:solidFill>
              </a:rPr>
              <a:t>4 classes: Low / Medium /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2C3E50"/>
                </a:solidFill>
              </a:rPr>
              <a:t>High / Critical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2C3E50"/>
                </a:solidFill>
              </a:rPr>
              <a:t>Model: XGBoost + Optuna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2C3E50"/>
                </a:solidFill>
              </a:rPr>
              <a:t>Input: 17 tabular features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863840" y="1371600"/>
            <a:ext cx="3474720" cy="38404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80" y="1389888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</a:rPr>
              <a:t>Task 3 — Regression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01000" y="1828800"/>
            <a:ext cx="32918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2C3E50"/>
                </a:solidFill>
              </a:rPr>
              <a:t>Resolution Time Estimation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2C3E50"/>
                </a:solidFill>
              </a:rPr>
              <a:t>Predict hours-to-resolve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2C3E50"/>
                </a:solidFill>
              </a:rPr>
              <a:t>Model: RF / XGB / LGBM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2C3E50"/>
                </a:solidFill>
              </a:rPr>
              <a:t>Input: tabular + text features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2C3E50"/>
                </a:solidFill>
              </a:rPr>
              <a:t>Metric: RMSE, MAE, R²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Dataset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DD8E6"/>
                </a:solidFill>
              </a:rPr>
              <a:t>Kaggle — Customer Support Ticket Dataset · 8,469 rows × 17 columns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08760"/>
            <a:ext cx="3566160" cy="1737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1B3A5C"/>
                </a:solidFill>
              </a:rPr>
              <a:t>8,469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7F8C8D"/>
                </a:solidFill>
              </a:rPr>
              <a:t>Total tickets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1508760"/>
            <a:ext cx="3566160" cy="1737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1645920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1B3A5C"/>
                </a:solidFill>
              </a:rPr>
              <a:t>17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246888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7F8C8D"/>
                </a:solidFill>
              </a:rPr>
              <a:t>Raw columns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321040" y="1508760"/>
            <a:ext cx="3566160" cy="1737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1645920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1B3A5C"/>
                </a:solidFill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246888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7F8C8D"/>
                </a:solidFill>
              </a:rPr>
              <a:t>Ticket Type classes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520440"/>
            <a:ext cx="3566160" cy="1737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657600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1B3A5C"/>
                </a:solidFill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448056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7F8C8D"/>
                </a:solidFill>
              </a:rPr>
              <a:t>Priority classes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89120" y="3520440"/>
            <a:ext cx="3566160" cy="1737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0560" y="3657600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1B3A5C"/>
                </a:solidFill>
              </a:rPr>
              <a:t>70 / 10 / 20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448056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7F8C8D"/>
                </a:solidFill>
              </a:rPr>
              <a:t>Train / Val / Test split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321040" y="3520440"/>
            <a:ext cx="3566160" cy="1737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12480" y="3657600"/>
            <a:ext cx="3383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1B3A5C"/>
                </a:solidFill>
              </a:rPr>
              <a:t>1,931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4480560"/>
            <a:ext cx="3383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7F8C8D"/>
                </a:solidFill>
              </a:rPr>
              <a:t>Closed tickets (regression subset)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557784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E67E22"/>
                </a:solidFill>
              </a:rPr>
              <a:t>⚠  5 Ticket Type classes found — spec said 4 (data-first validation caught this)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E67E22"/>
                </a:solidFill>
              </a:rPr>
              <a:t>⚠  5,700 structural nulls — all tied to Ticket Status ≠ 'Closed' (not data quality issues)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E67E22"/>
                </a:solidFill>
              </a:rPr>
              <a:t>⚠  {product_purchased} placeholder in all descriptions — replaced during cleaning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E67E22"/>
                </a:solidFill>
              </a:rPr>
              <a:t>⚠  1,365 negative hours_to_resolve — fixed with +24h timestamp wrap-around correction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System Architecture — End-to-End ML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325880"/>
            <a:ext cx="1920240" cy="512064"/>
          </a:xfrm>
          <a:prstGeom prst="rect">
            <a:avLst/>
          </a:prstGeom>
          <a:solidFill>
            <a:srgbClr val="177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0040" y="1399032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Data Layer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0" y="1325880"/>
            <a:ext cx="9509760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377440" y="1417320"/>
            <a:ext cx="9326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</a:rPr>
              <a:t>Raw CSV → clean.py (8-fn pipeline) → Pandera validation → PostgreSQL + Redis cache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933956"/>
            <a:ext cx="1920240" cy="512064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2007108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Feature Layer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0" y="1933956"/>
            <a:ext cx="9509760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77440" y="2025396"/>
            <a:ext cx="9326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</a:rPr>
              <a:t>TextPreprocessor (VADER + TF-IDF) · TabularEncoder (Ordinal + TargetEncoder) · 17 features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542032"/>
            <a:ext cx="1920240" cy="512064"/>
          </a:xfrm>
          <a:prstGeom prst="rect">
            <a:avLst/>
          </a:prstGeom>
          <a:solidFill>
            <a:srgbClr val="177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2615184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Model Layer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0" y="2542032"/>
            <a:ext cx="9509760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77440" y="2633472"/>
            <a:ext cx="9326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</a:rPr>
              <a:t>Baselines (LR/NB/DT) → Advanced (RF/XGB/LGBM + Optuna) → DistilBERT (Colab T4)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150108"/>
            <a:ext cx="1920240" cy="512064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322326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MLOps Layer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0" y="3150108"/>
            <a:ext cx="9509760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377440" y="3241548"/>
            <a:ext cx="9326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</a:rPr>
              <a:t>MLflow tracking (47 runs) · Model Registry (Production/Challenger aliases) · Optuna HPO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3758184"/>
            <a:ext cx="1920240" cy="512064"/>
          </a:xfrm>
          <a:prstGeom prst="rect">
            <a:avLst/>
          </a:prstGeom>
          <a:solidFill>
            <a:srgbClr val="177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" y="3831336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Serving Layer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86000" y="3758184"/>
            <a:ext cx="9509760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377440" y="3849624"/>
            <a:ext cx="9326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</a:rPr>
              <a:t>FastAPI — 8 endpoints · X-API-Key auth · /admin/reload hot-swap · Prometheus metrics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4366260"/>
            <a:ext cx="1920240" cy="512064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0040" y="4439412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Monitoring Layer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86000" y="4366260"/>
            <a:ext cx="9509760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377440" y="4457700"/>
            <a:ext cx="9326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</a:rPr>
              <a:t>Prometheus + Grafana + Alertmanager · Evidently PSI drift · 5 alert rules · RUNBOOK.md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4974336"/>
            <a:ext cx="1920240" cy="512064"/>
          </a:xfrm>
          <a:prstGeom prst="rect">
            <a:avLst/>
          </a:prstGeom>
          <a:solidFill>
            <a:srgbClr val="177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0040" y="5047488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Orchestration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286000" y="4974336"/>
            <a:ext cx="9509760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377440" y="5065776"/>
            <a:ext cx="9326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</a:rPr>
              <a:t>Airflow — 4 DAGs (ETL, drift monitor, retrain, model report) · 26 tasks total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5582412"/>
            <a:ext cx="1920240" cy="512064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0040" y="5655564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Deployment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286000" y="5582412"/>
            <a:ext cx="9509760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377440" y="5673852"/>
            <a:ext cx="9326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</a:rPr>
              <a:t>Docker Compose — 10 containers on one bridge network (csip-net) · CI: GitHub Actions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6190488"/>
            <a:ext cx="1920240" cy="512064"/>
          </a:xfrm>
          <a:prstGeom prst="rect">
            <a:avLst/>
          </a:prstGeom>
          <a:solidFill>
            <a:srgbClr val="177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20040" y="626364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Dashboard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286000" y="6190488"/>
            <a:ext cx="9509760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377440" y="6281928"/>
            <a:ext cx="9326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</a:rPr>
              <a:t>Plotly Dash — 6 pages · EDA, Leaderboard, Live Predictions, Drift, Clustering/SHAP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EDA &amp; Text Preprocessing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DD8E6"/>
                </a:solidFill>
              </a:rPr>
              <a:t>14 charts · VADER sentiment · TF-IDF · spaCy lemmatization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5486400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B3A5C"/>
                </a:solidFill>
              </a:rPr>
              <a:t>Key EDA Findings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53035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2C3E50"/>
                </a:solidFill>
              </a:rPr>
              <a:t>• Ticket Type: 5 classes, nearly balanced (1.07:1 ratio)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2C3E50"/>
                </a:solidFill>
              </a:rPr>
              <a:t>• Ticket Priority: 4 classes, ~2,000 tickets each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2C3E50"/>
                </a:solidFill>
              </a:rPr>
              <a:t>• 80% of Critical tickets breach their 4-hour SLA window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2C3E50"/>
                </a:solidFill>
              </a:rPr>
              <a:t>• CSAT: mean 2.99/5, but 67.3% null (open tickets have no rating)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2C3E50"/>
                </a:solidFill>
              </a:rPr>
              <a:t>• All numeric CSAT correlations &lt; 0.05 — no exploitable signal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6480" y="1371600"/>
            <a:ext cx="5669280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17920" y="1417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B3A5C"/>
                </a:solidFill>
              </a:rPr>
              <a:t>Text Preprocessing Pipeline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1783080"/>
            <a:ext cx="54864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2C3E50"/>
                </a:solidFill>
              </a:rPr>
              <a:t>• Lowercase, remove punctuation, HTML artifacts, {placeholder} strings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2C3E50"/>
                </a:solidFill>
              </a:rPr>
              <a:t>• Tokenize → stopword removal → spaCy lemmatization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2C3E50"/>
                </a:solidFill>
              </a:rPr>
              <a:t>• VADER sentiment: 72.7% positive / 4.3% neutral / 23.1% negative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2C3E50"/>
                </a:solidFill>
              </a:rPr>
              <a:t>• TF-IDF: 9,307-term vocab (min_df=2 on 5,928 training docs)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2C3E50"/>
                </a:solidFill>
              </a:rPr>
              <a:t>• Top TF-IDF terms identical across all 5 Ticket Type classes ← key signal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4023360"/>
            <a:ext cx="11430000" cy="2468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40690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67E22"/>
                </a:solidFill>
              </a:rPr>
              <a:t>Critical SLA Finding  →  The Business Case for This Platform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48056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2C3E50"/>
                </a:solidFill>
              </a:rPr>
              <a:t>• Resolution time is uniformly distributed 0–24 hours in this dataset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2C3E50"/>
                </a:solidFill>
              </a:rPr>
              <a:t>• Critical priority SLA = 4 hours  →  P(breach) = 4/24 expected under random assignment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2C3E50"/>
                </a:solidFill>
              </a:rPr>
              <a:t>• Actual breach rate = 80%  →  confirms Critical tickets are not being prioritised fast enough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2C3E50"/>
                </a:solidFill>
              </a:rPr>
              <a:t>• Automated priority prediction (Task 2) directly addresses this gap — even modest accuracy lifts have material SLA impact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Feature Engineering, Split &amp; Redis Feature Store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371600"/>
            <a:ext cx="530352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B3A5C"/>
                </a:solidFill>
              </a:rPr>
              <a:t>TabularEncoder  (17 model-ready features)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80"/>
            <a:ext cx="512064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2C3E50"/>
                </a:solidFill>
              </a:rPr>
              <a:t>• OrdinalEncoder  →  channel (4), gender (3)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2C3E50"/>
                </a:solidFill>
              </a:rPr>
              <a:t>• TargetEncoder (multiclass)  →  product_purchased (5 cols, one per class)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2C3E50"/>
                </a:solidFill>
              </a:rPr>
              <a:t>• Numeric passthrough  →  age, days_since_purchase, word_count,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2C3E50"/>
                </a:solidFill>
              </a:rPr>
              <a:t>    char_count, sentiment score, response_hour_of_day, + 4 more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2C3E50"/>
                </a:solidFill>
              </a:rPr>
              <a:t>• 4 constant columns auto-dropped (zero variance on training data)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2C3E50"/>
                </a:solidFill>
              </a:rPr>
              <a:t>• Regression subset uses keep_mask  →  13 features (drops 4 text-only cols)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0" y="1371600"/>
            <a:ext cx="585216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035040" y="141732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B3A5C"/>
                </a:solidFill>
              </a:rPr>
              <a:t>Train / Val / Test Split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1783080"/>
            <a:ext cx="56692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2C3E50"/>
                </a:solidFill>
              </a:rPr>
              <a:t>• Stratified split preserving class proportions across all 3 sets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2C3E50"/>
                </a:solidFill>
              </a:rPr>
              <a:t>• Classification:  5,928 / 847 / 1,694  (70 / 10 / 20 %)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2C3E50"/>
                </a:solidFill>
              </a:rPr>
              <a:t>• Regression subset (closed tickets):  1,931 / 276 / 562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2C3E50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2C3E50"/>
                </a:solidFill>
              </a:rPr>
              <a:t>Redis Feature Store: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2C3E50"/>
                </a:solidFill>
              </a:rPr>
              <a:t>• SHA-256 key hashing, connection pool, pipeline writes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2C3E50"/>
                </a:solidFill>
              </a:rPr>
              <a:t>• Graceful degrade — except redis.RedisError: return None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2C3E50"/>
                </a:solidFill>
              </a:rPr>
              <a:t>• System runs correctly with or without Redis available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4754880"/>
            <a:ext cx="1143000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4800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77E89"/>
                </a:solidFill>
              </a:rPr>
              <a:t>Why TargetEncoder for Product Purchased?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166360"/>
            <a:ext cx="11247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2C3E50"/>
                </a:solidFill>
              </a:rPr>
              <a:t>• Product Purchased has high cardinality (many unique values) — OrdinalEncoder would produce arbitrary integer codes with no semantic meaning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C3E50"/>
                </a:solidFill>
              </a:rPr>
              <a:t>• TargetEncoder replaces each category with the mean of each target class, creating 5 columns (one per Ticket Type class) with real predictive signal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C3E50"/>
                </a:solidFill>
              </a:rPr>
              <a:t>• Multiclass TargetEncoder requires get_feature_names_out() to name the output columns — a non-obvious sklearn API detail discovered during implementation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ML Models &amp;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DD8E6"/>
                </a:solidFill>
              </a:rPr>
              <a:t>Baselines → Advanced Ensemble → Optuna Hyperparameter Tuning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371600"/>
            <a:ext cx="3017520" cy="4572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9184" y="1444752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Algorithm</a:t>
            </a:r>
          </a:p>
        </p:txBody>
      </p:sp>
      <p:sp>
        <p:nvSpPr>
          <p:cNvPr id="7" name="Rectangle 6"/>
          <p:cNvSpPr/>
          <p:nvPr/>
        </p:nvSpPr>
        <p:spPr>
          <a:xfrm>
            <a:off x="3383280" y="1371600"/>
            <a:ext cx="2011680" cy="4572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38144" y="1444752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Task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0" y="1371600"/>
            <a:ext cx="1828800" cy="4572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41264" y="1444752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Val F1-macro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06640" y="1371600"/>
            <a:ext cx="4389120" cy="4572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61504" y="1444752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Notes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828800"/>
            <a:ext cx="301752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9184" y="1901952"/>
            <a:ext cx="2926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</a:rPr>
              <a:t>Logistic Regression (baseline)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83280" y="1828800"/>
            <a:ext cx="201168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38144" y="1901952"/>
            <a:ext cx="1920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</a:rPr>
              <a:t>Ticket Type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0" y="1828800"/>
            <a:ext cx="182880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541264" y="1901952"/>
            <a:ext cx="1737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</a:rPr>
              <a:t>0.1913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06640" y="1828800"/>
            <a:ext cx="438912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61504" y="1901952"/>
            <a:ext cx="4297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</a:rPr>
              <a:t>Near noise floor (5-class ≈ 0.20)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2395728"/>
            <a:ext cx="301752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9184" y="2468880"/>
            <a:ext cx="2926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</a:rPr>
              <a:t>Naive Bayes (baseline)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383280" y="2395728"/>
            <a:ext cx="201168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38144" y="2468880"/>
            <a:ext cx="1920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</a:rPr>
              <a:t>Ticket Priority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0" y="2395728"/>
            <a:ext cx="182880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541264" y="2468880"/>
            <a:ext cx="1737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</a:rPr>
              <a:t>0.2418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406640" y="2395728"/>
            <a:ext cx="438912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61504" y="2468880"/>
            <a:ext cx="4297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</a:rPr>
              <a:t>Best baseline for priority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2962656"/>
            <a:ext cx="301752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9184" y="3035808"/>
            <a:ext cx="2926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</a:rPr>
              <a:t>Random Forest + Optuna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383280" y="2962656"/>
            <a:ext cx="201168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438144" y="3035808"/>
            <a:ext cx="1920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</a:rPr>
              <a:t>Ticket Type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0" y="2962656"/>
            <a:ext cx="182880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541264" y="3035808"/>
            <a:ext cx="1737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</a:rPr>
              <a:t>0.1795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06640" y="2962656"/>
            <a:ext cx="438912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61504" y="3035808"/>
            <a:ext cx="4297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</a:rPr>
              <a:t>Below LR baseline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3529584"/>
            <a:ext cx="301752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29184" y="3602736"/>
            <a:ext cx="2926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</a:rPr>
              <a:t>XGBoost + Optuna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383280" y="3529584"/>
            <a:ext cx="201168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438144" y="3602736"/>
            <a:ext cx="1920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</a:rPr>
              <a:t>Ticket Priority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86400" y="3529584"/>
            <a:ext cx="182880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541264" y="3602736"/>
            <a:ext cx="1737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</a:rPr>
              <a:t>0.2625 ✅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406640" y="3529584"/>
            <a:ext cx="438912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461504" y="3602736"/>
            <a:ext cx="4297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</a:rPr>
              <a:t>Best overall — real signal above 0.25 floor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74320" y="4096512"/>
            <a:ext cx="301752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29184" y="4169664"/>
            <a:ext cx="2926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</a:rPr>
              <a:t>LightGBM + Optuna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383280" y="4096512"/>
            <a:ext cx="201168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438144" y="4169664"/>
            <a:ext cx="1920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</a:rPr>
              <a:t>Ticket Type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486400" y="4096512"/>
            <a:ext cx="182880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541264" y="4169664"/>
            <a:ext cx="1737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</a:rPr>
              <a:t>0.1997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406640" y="4096512"/>
            <a:ext cx="438912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461504" y="4169664"/>
            <a:ext cx="4297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</a:rPr>
              <a:t>Best for Type — still at noise floor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74320" y="4663440"/>
            <a:ext cx="301752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29184" y="4736592"/>
            <a:ext cx="2926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</a:rPr>
              <a:t>Dummy (most-frequent)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383280" y="4663440"/>
            <a:ext cx="201168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438144" y="4736592"/>
            <a:ext cx="1920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</a:rPr>
              <a:t>Ticket Type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486400" y="4663440"/>
            <a:ext cx="182880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541264" y="4736592"/>
            <a:ext cx="1737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</a:rPr>
              <a:t>0.069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406640" y="4663440"/>
            <a:ext cx="438912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461504" y="4736592"/>
            <a:ext cx="4297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</a:rPr>
              <a:t>True irreducible floor — all models beat this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74320" y="5230368"/>
            <a:ext cx="301752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29184" y="5303520"/>
            <a:ext cx="29260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</a:rPr>
              <a:t>Dummy (most-frequent)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383280" y="5230368"/>
            <a:ext cx="201168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438144" y="5303520"/>
            <a:ext cx="1920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</a:rPr>
              <a:t>Ticket Priority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486400" y="5230368"/>
            <a:ext cx="182880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541264" y="5303520"/>
            <a:ext cx="1737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</a:rPr>
              <a:t>0.103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406640" y="5230368"/>
            <a:ext cx="4389120" cy="566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461504" y="5303520"/>
            <a:ext cx="42976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</a:rPr>
              <a:t>XGBoost 2.5× better than dummy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274320" y="621792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7F8C8D"/>
                </a:solidFill>
              </a:rPr>
              <a:t>6 Optuna studies  ·  MedianPruner  ·  class_weight='balanced'  ·  refit on full training data after tuning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DistilBERT Fine-Tuning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DD8E6"/>
                </a:solidFill>
              </a:rPr>
              <a:t>Google Colab T4  ·  5 epochs  ·  AdamW + linear LR warmup  ·  pair tokenization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5303520" cy="5120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B3A5C"/>
                </a:solidFill>
              </a:rPr>
              <a:t>Training Setup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512064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2C3E50"/>
                </a:solidFill>
              </a:rPr>
              <a:t>• Input: Ticket Subject + [SEP] + Ticket Description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2C3E50"/>
                </a:solidFill>
              </a:rPr>
              <a:t>• MAX_LENGTH = 128 tokens  ·  pre-tokenized once per split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2C3E50"/>
                </a:solidFill>
              </a:rPr>
              <a:t>• 4 AdamW parameter groups (backbone vs head, bias/LayerNorm excluded from weight decay)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2C3E50"/>
                </a:solidFill>
              </a:rPr>
              <a:t>• Differential LR: backbone lr=1e-5, head lr=1e-4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2C3E50"/>
                </a:solidFill>
              </a:rPr>
              <a:t>• Early stopping patience=2  ·  atomic checkpointing (tempfile + shutil.move)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2C3E50"/>
                </a:solidFill>
              </a:rPr>
              <a:t>• Saved with model.save_pretrained() to models/distilbert/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977639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B3A5C"/>
                </a:solidFill>
              </a:rPr>
              <a:t>Test Set Results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343400"/>
            <a:ext cx="3200400" cy="384048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749039" y="4343400"/>
            <a:ext cx="1737360" cy="384048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4407408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C3E50"/>
                </a:solidFill>
              </a:rPr>
              <a:t>F1-macro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440740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0.1954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773168"/>
            <a:ext cx="3200400" cy="384048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749039" y="4773168"/>
            <a:ext cx="1737360" cy="384048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4837176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C3E50"/>
                </a:solidFill>
              </a:rPr>
              <a:t>F1-weighted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94760" y="4837176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0.1960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5202936"/>
            <a:ext cx="3200400" cy="384048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749039" y="5202936"/>
            <a:ext cx="1737360" cy="384048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5266944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C3E50"/>
                </a:solidFill>
              </a:rPr>
              <a:t>Accuracy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94760" y="5266944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0.2048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632704"/>
            <a:ext cx="3200400" cy="384048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749039" y="5632704"/>
            <a:ext cx="1737360" cy="384048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5696712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C3E50"/>
                </a:solidFill>
              </a:rPr>
              <a:t>Best val F1 @ epoch 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94760" y="5696712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0.1823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43600" y="1371600"/>
            <a:ext cx="5852160" cy="5120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35040" y="141732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E67E22"/>
                </a:solidFill>
              </a:rPr>
              <a:t>Key Finding — The Noise Floor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35040" y="1783080"/>
            <a:ext cx="5669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2C3E50"/>
                </a:solidFill>
              </a:rPr>
              <a:t>DistilBERT (0.1954) ≈ LightGBM (0.1997)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C3E50"/>
                </a:solidFill>
              </a:rPr>
              <a:t>≈ random guess floor (0.20 for 5 classes)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C3E50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C3E50"/>
                </a:solidFill>
              </a:rPr>
              <a:t>val_loss RISES every epoch while train_loss barely falls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C3E50"/>
                </a:solidFill>
              </a:rPr>
              <a:t>→ classic 'no learnable signal' training curve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C3E50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C3E50"/>
                </a:solidFill>
              </a:rPr>
              <a:t>Starting cross-entropy ≈ ln(5) = 1.609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C3E50"/>
                </a:solidFill>
              </a:rPr>
              <a:t>→ confirms correct wiring; model not stuck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C3E50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C3E50"/>
                </a:solidFill>
              </a:rPr>
              <a:t>4 independent confirmations: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C3E50"/>
                </a:solidFill>
              </a:rPr>
              <a:t>1. TF-IDF top terms identical across all classes (§5.3)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C3E50"/>
                </a:solidFill>
              </a:rPr>
              <a:t>2. Classical ML baselines at noise floor (§5.5)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C3E50"/>
                </a:solidFill>
              </a:rPr>
              <a:t>3. Optuna-tuned ensembles at noise floor (§5.6)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C3E50"/>
                </a:solidFill>
              </a:rPr>
              <a:t>4. DistilBERT fine-tune confirms ceiling (§5.9)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C3E50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C3E50"/>
                </a:solidFill>
              </a:rPr>
              <a:t>Most likely cause: Ticket Type labels are synthetic /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C3E50"/>
                </a:solidFill>
              </a:rPr>
              <a:t>near-randomly assigned in the source dataset.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C3E50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C3E50"/>
                </a:solidFill>
              </a:rPr>
              <a:t>API response: model_status: 'below_quality_bar'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C3E50"/>
                </a:solidFill>
              </a:rPr>
              <a:t>+ reliability_note field on every /predict/type call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Regression (Resolution Time) &amp; Unsupervised Clustering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371600"/>
            <a:ext cx="5486400" cy="5120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B3A5C"/>
                </a:solidFill>
              </a:rPr>
              <a:t>Resolution Time Regression (Task 3)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80"/>
            <a:ext cx="5303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2C3E50"/>
                </a:solidFill>
              </a:rPr>
              <a:t>Models: RF / XGBoost / LightGBM + Optuna (KFold CV, minimize RMSE)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2C3E50"/>
                </a:solidFill>
              </a:rPr>
              <a:t>Optional log-transform: skewness-gated (skew=0.031 → not applied)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2C3E50"/>
                </a:solidFill>
              </a:rPr>
              <a:t>Metrics: RMSE / MAE / R² / MAPE / RMSLE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2C3E50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2C3E50"/>
                </a:solidFill>
              </a:rPr>
              <a:t>Results: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291840"/>
            <a:ext cx="2560320" cy="384048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108960" y="3291840"/>
            <a:ext cx="914400" cy="384048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0" y="3291840"/>
            <a:ext cx="1645920" cy="384048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3355848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</a:rPr>
              <a:t>Random Forest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54680" y="3355848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7.09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60520" y="3355848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</a:rPr>
              <a:t>R² ≈ −0.02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712464"/>
            <a:ext cx="2560320" cy="384048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108960" y="3712464"/>
            <a:ext cx="914400" cy="384048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14800" y="3712464"/>
            <a:ext cx="1645920" cy="384048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3776472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</a:rPr>
              <a:t>XGBoost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54680" y="3776472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7.09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60520" y="3776472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</a:rPr>
              <a:t>R² ≈ −0.01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4133088"/>
            <a:ext cx="2560320" cy="384048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108960" y="4133088"/>
            <a:ext cx="914400" cy="384048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114800" y="4133088"/>
            <a:ext cx="1645920" cy="384048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4197096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</a:rPr>
              <a:t>LightGBM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54680" y="4197096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7.11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60520" y="4197096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</a:rPr>
              <a:t>R² ≈ −0.05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553712"/>
            <a:ext cx="2560320" cy="384048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108960" y="4553712"/>
            <a:ext cx="914400" cy="38404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114800" y="4553712"/>
            <a:ext cx="1645920" cy="384048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4617720"/>
            <a:ext cx="2468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</a:rPr>
              <a:t>Dummy mean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54680" y="4617720"/>
            <a:ext cx="822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7.06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160520" y="461772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</a:rPr>
              <a:t>beats all — confirms no signal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16636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E67E22"/>
                </a:solidFill>
              </a:rPr>
              <a:t>Conclusion: near-uniform 0–24h distribution carries no exploitable tabular signal.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26480" y="1371600"/>
            <a:ext cx="5669280" cy="5120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17920" y="1417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B3A5C"/>
                </a:solidFill>
              </a:rPr>
              <a:t>K-Means Customer Segmentation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0" y="1783080"/>
            <a:ext cx="54864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2C3E50"/>
                </a:solidFill>
              </a:rPr>
              <a:t>Swept K = 2 to 6  ·  StandardScaler  ·  n_init='auto'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C3E50"/>
                </a:solidFill>
              </a:rPr>
              <a:t>Best K = 2  (Silhouette = 0.1573)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C3E50"/>
                </a:solidFill>
              </a:rPr>
              <a:t>Davies-Bouldin Index = 2.1902  (also minimum at K=2)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C3E50"/>
                </a:solidFill>
              </a:rPr>
              <a:t>→ Both metrics agree: K=2 is the natural cluster count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C3E50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C3E50"/>
                </a:solidFill>
              </a:rPr>
              <a:t>Visualization: PCA (2D projection) + t-SNE (non-linear)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C3E50"/>
                </a:solidFill>
              </a:rPr>
              <a:t>Stratified t-SNE subsample for speed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C3E50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C3E50"/>
                </a:solidFill>
              </a:rPr>
              <a:t>All results logged to MLflow (csip-clustering experiment)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C3E50"/>
                </a:solidFill>
              </a:rPr>
              <a:t>Charts in Dash Page 5 — Clustering &amp; Explainability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C3E50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C3E50"/>
                </a:solidFill>
              </a:rPr>
              <a:t>Fairness analysis (Phase C):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C3E50"/>
                </a:solidFill>
              </a:rPr>
              <a:t>• XGBoost priority model evaluated by Gender / Age / Channel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C3E50"/>
                </a:solidFill>
              </a:rPr>
              <a:t>• All segment F1s within ±0.03 of overall (0.251)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C3E50"/>
                </a:solidFill>
              </a:rPr>
              <a:t>• Consistent with statistical noise — no systematic bias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C3E50"/>
                </a:solidFill>
              </a:rPr>
              <a:t>• Heatmaps in Dash fairness gallery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Model Explainability — SHAP + DistilBERT Attention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371600"/>
            <a:ext cx="5486400" cy="5120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B3A5C"/>
                </a:solidFill>
              </a:rPr>
              <a:t>SHAP — TreeExplainer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783080"/>
            <a:ext cx="53035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2C3E50"/>
                </a:solidFill>
              </a:rPr>
              <a:t>Applied to: XGBoost Priority + RF Regression models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C3E50"/>
                </a:solidFill>
              </a:rPr>
              <a:t>Handles (N, F, C) 3D array — LGBM multi-class SHAP output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C3E50"/>
                </a:solidFill>
              </a:rPr>
              <a:t>Fixed: must index [:, :, class_idx] to get per-class attributions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C3E50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C3E50"/>
                </a:solidFill>
              </a:rPr>
              <a:t>Charts generated: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C3E50"/>
                </a:solidFill>
              </a:rPr>
              <a:t>  • Beeswarm plot — global feature importance across all samples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C3E50"/>
                </a:solidFill>
              </a:rPr>
              <a:t>  • Waterfall plot — per-prediction breakdown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C3E50"/>
                </a:solidFill>
              </a:rPr>
              <a:t>  • Mid-confidence correct + high-confidence wrong examples selected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C3E50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C3E50"/>
                </a:solidFill>
              </a:rPr>
              <a:t>Top driver — Priority prediction: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C3E50"/>
                </a:solidFill>
              </a:rPr>
              <a:t>  → days_since_purchase  (newer purchases → higher urgency)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C3E50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C3E50"/>
                </a:solidFill>
              </a:rPr>
              <a:t>Top driver — Resolution time: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C3E50"/>
                </a:solidFill>
              </a:rPr>
              <a:t>  → response_hour_of_day  (time-of-day operational patterns)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C3E50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C3E50"/>
                </a:solidFill>
              </a:rPr>
              <a:t>SHAP values logged to MLflow: csip-explainability experiment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0" y="1371600"/>
            <a:ext cx="5669280" cy="5120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0" y="1417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B3A5C"/>
                </a:solidFill>
              </a:rPr>
              <a:t>DistilBERT Attention Heatmaps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783080"/>
            <a:ext cx="54864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2C3E50"/>
                </a:solidFill>
              </a:rPr>
              <a:t>Notebook: 09b_distilbert_attention.py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C3E50"/>
                </a:solidFill>
              </a:rPr>
              <a:t>Loads fine-tuned model with output_attentions=True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C3E50"/>
                </a:solidFill>
              </a:rPr>
              <a:t>300-sample subset (FAST_MODE), sample accuracy = 0.2433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C3E50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C3E50"/>
                </a:solidFill>
              </a:rPr>
              <a:t>Method: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C3E50"/>
                </a:solidFill>
              </a:rPr>
              <a:t>  • Extract per-layer [CLS]-token attention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C3E50"/>
                </a:solidFill>
              </a:rPr>
              <a:t>  • Average over all attention heads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C3E50"/>
                </a:solidFill>
              </a:rPr>
              <a:t>  • Plot top-16 most-attended tokens as seaborn heatmap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C3E50"/>
                </a:solidFill>
              </a:rPr>
              <a:t>  • Separate heatmaps: highest-confidence correct vs wrong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C3E50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C3E50"/>
                </a:solidFill>
              </a:rPr>
              <a:t>Finding: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C3E50"/>
                </a:solidFill>
              </a:rPr>
              <a:t>  • Correct predictions: 44% top tokens = special/punctuation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C3E50"/>
                </a:solidFill>
              </a:rPr>
              <a:t>  • Wrong predictions: 50% top tokens = special/punctuation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C3E50"/>
                </a:solidFill>
              </a:rPr>
              <a:t>  • Model attends to [CLS], [SEP], commas — not content words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C3E50"/>
                </a:solidFill>
              </a:rPr>
              <a:t>  → Mechanistic confirmation: DistilBERT cannot find signal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C3E50"/>
                </a:solidFill>
              </a:rPr>
              <a:t>     because the ticket text contains no learnable type cues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C3E50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C3E50"/>
                </a:solidFill>
              </a:rPr>
              <a:t>Charts: artifacts/charts/distilbert_attention_*.png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C3E50"/>
                </a:solidFill>
              </a:rPr>
              <a:t>Displayed in Dash Page 5 gallery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MLflow Experiment Tracking &amp; Model Registry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371600"/>
            <a:ext cx="3566160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338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1B3A5C"/>
                </a:solidFill>
              </a:rPr>
              <a:t>47+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2996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7F8C8D"/>
                </a:solidFill>
              </a:rPr>
              <a:t>Logged runs</a:t>
            </a:r>
          </a:p>
        </p:txBody>
      </p:sp>
      <p:sp>
        <p:nvSpPr>
          <p:cNvPr id="7" name="Rectangle 6"/>
          <p:cNvSpPr/>
          <p:nvPr/>
        </p:nvSpPr>
        <p:spPr>
          <a:xfrm>
            <a:off x="4297680" y="1371600"/>
            <a:ext cx="3566160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0" y="1417320"/>
            <a:ext cx="338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1B3A5C"/>
                </a:solidFill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202996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7F8C8D"/>
                </a:solidFill>
              </a:rPr>
              <a:t>Experiments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0" y="1371600"/>
            <a:ext cx="3566160" cy="12801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1417320"/>
            <a:ext cx="33832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1B3A5C"/>
                </a:solidFill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2029968"/>
            <a:ext cx="3383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7F8C8D"/>
                </a:solidFill>
              </a:rPr>
              <a:t>Registered models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834640"/>
            <a:ext cx="11430000" cy="3657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2880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B3A5C"/>
                </a:solidFill>
              </a:rPr>
              <a:t>Model Registry  —  Production / Challenger Aliases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291840"/>
            <a:ext cx="3200400" cy="475488"/>
          </a:xfrm>
          <a:prstGeom prst="rect">
            <a:avLst/>
          </a:prstGeom>
          <a:solidFill>
            <a:srgbClr val="177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2064" y="33832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Registered Model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749039" y="3291840"/>
            <a:ext cx="2011680" cy="475488"/>
          </a:xfrm>
          <a:prstGeom prst="rect">
            <a:avLst/>
          </a:prstGeom>
          <a:solidFill>
            <a:srgbClr val="177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03903" y="33832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Production (v1)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852160" y="3291840"/>
            <a:ext cx="3017520" cy="475488"/>
          </a:xfrm>
          <a:prstGeom prst="rect">
            <a:avLst/>
          </a:prstGeom>
          <a:solidFill>
            <a:srgbClr val="177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07024" y="33832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Metric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61120" y="3291840"/>
            <a:ext cx="2011680" cy="475488"/>
          </a:xfrm>
          <a:prstGeom prst="rect">
            <a:avLst/>
          </a:prstGeom>
          <a:solidFill>
            <a:srgbClr val="177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15984" y="338328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Challenger (v2)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767328"/>
            <a:ext cx="320040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2064" y="3858768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</a:rPr>
              <a:t>csip-ticket-type-classifier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749039" y="3767328"/>
            <a:ext cx="201168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803903" y="3858768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</a:rPr>
              <a:t>LightGBM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852160" y="3767328"/>
            <a:ext cx="301752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07024" y="3858768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</a:rPr>
              <a:t>val F1-macro = 0.1997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961120" y="3767328"/>
            <a:ext cx="201168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15984" y="3858768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</a:rPr>
              <a:t>XGBoost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4242816"/>
            <a:ext cx="3200400" cy="475488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12064" y="4334256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</a:rPr>
              <a:t>csip-priority-classifier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749039" y="4242816"/>
            <a:ext cx="2011680" cy="475488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803903" y="4334256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</a:rPr>
              <a:t>XGBoost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852160" y="4242816"/>
            <a:ext cx="3017520" cy="475488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907024" y="4334256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</a:rPr>
              <a:t>val F1-macro = 0.2625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961120" y="4242816"/>
            <a:ext cx="2011680" cy="475488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15984" y="4334256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</a:rPr>
              <a:t>Random Forest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4718304"/>
            <a:ext cx="320040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12064" y="4809744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</a:rPr>
              <a:t>csip-resolution-regressor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749039" y="4718304"/>
            <a:ext cx="201168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803903" y="4809744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</a:rPr>
              <a:t>Random Forest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852160" y="4718304"/>
            <a:ext cx="301752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907024" y="4809744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</a:rPr>
              <a:t>val RMSE = 7.07 hrs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961120" y="4718304"/>
            <a:ext cx="2011680" cy="47548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015984" y="4809744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</a:rPr>
              <a:t>XGBoost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" y="6172200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7F8C8D"/>
                </a:solidFill>
              </a:rPr>
              <a:t>Experiments: csip-baseline-classifiers · csip-advanced-ml · csip-regression-models · csip-clustering · csip-explainability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7F8C8D"/>
                </a:solidFill>
              </a:rPr>
              <a:t>Rules: mlflow.search_runs(experiment_ids=[...]) — never experiment_names=. All params cast: int(run['params.k']), float(run['metrics.f1'])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FastAPI Serving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DD8E6"/>
                </a:solidFill>
              </a:rPr>
              <a:t>8 endpoints · X-API-Key auth · /admin/reload hot-swap · Prometheus metrics · live-tested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371600"/>
            <a:ext cx="3200400" cy="43891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566160" y="1371600"/>
            <a:ext cx="2011680" cy="43891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0" y="1371600"/>
            <a:ext cx="612648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444752"/>
            <a:ext cx="3017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GET  /health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11880" y="1444752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</a:rPr>
              <a:t>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42432" y="1444752"/>
            <a:ext cx="5943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</a:rPr>
              <a:t>Liveness / readiness  (200 healthy · 503 loading)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837944"/>
            <a:ext cx="3200400" cy="43891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566160" y="1837944"/>
            <a:ext cx="2011680" cy="43891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0" y="1837944"/>
            <a:ext cx="612648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" y="1911096"/>
            <a:ext cx="3017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GET  /metrics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11880" y="1911096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</a:rPr>
              <a:t>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42432" y="1911096"/>
            <a:ext cx="5943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</a:rPr>
              <a:t>Prometheus scrape endpoint (text/plain)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2304288"/>
            <a:ext cx="3200400" cy="43891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566160" y="2304288"/>
            <a:ext cx="2011680" cy="43891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669280" y="2304288"/>
            <a:ext cx="612648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7472" y="2377440"/>
            <a:ext cx="3017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POST /predict/type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11880" y="2377440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</a:rPr>
              <a:t>CSIP_API_KEY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42432" y="2377440"/>
            <a:ext cx="5943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</a:rPr>
              <a:t>Ticket type + model_status + reliability_note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2770632"/>
            <a:ext cx="3200400" cy="43891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566160" y="2770632"/>
            <a:ext cx="2011680" cy="43891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669280" y="2770632"/>
            <a:ext cx="612648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7472" y="2843784"/>
            <a:ext cx="3017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POST /predict/priority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11880" y="2843784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</a:rPr>
              <a:t>CSIP_API_KEY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42432" y="2843784"/>
            <a:ext cx="5943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</a:rPr>
              <a:t>Priority (Low/Medium/High/Critical)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3236976"/>
            <a:ext cx="3200400" cy="43891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66160" y="3236976"/>
            <a:ext cx="2011680" cy="43891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669280" y="3236976"/>
            <a:ext cx="612648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47472" y="3310128"/>
            <a:ext cx="3017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POST /predict/resolution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11880" y="3310128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</a:rPr>
              <a:t>CSIP_API_KEY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742432" y="3310128"/>
            <a:ext cx="5943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</a:rPr>
              <a:t>Hours-to-resolve estimate (RMSE ~7 hrs)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3703320"/>
            <a:ext cx="3200400" cy="43891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566160" y="3703320"/>
            <a:ext cx="2011680" cy="43891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669280" y="3703320"/>
            <a:ext cx="612648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47472" y="3776472"/>
            <a:ext cx="3017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POST /explain/priority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11880" y="3776472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</a:rPr>
              <a:t>CSIP_API_KEY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742432" y="3776472"/>
            <a:ext cx="5943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</a:rPr>
              <a:t>SHAP-based explanation of priority prediction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74320" y="4169664"/>
            <a:ext cx="3200400" cy="43891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566160" y="4169664"/>
            <a:ext cx="2011680" cy="43891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669280" y="4169664"/>
            <a:ext cx="612648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47472" y="4242816"/>
            <a:ext cx="3017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POST /admin/reload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11880" y="4242816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</a:rPr>
              <a:t>ADMIN_API_KEY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742432" y="4242816"/>
            <a:ext cx="5943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</a:rPr>
              <a:t>Hot-swap models — lock-guarded, 600s rate limit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74320" y="4636008"/>
            <a:ext cx="3200400" cy="43891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566160" y="4636008"/>
            <a:ext cx="2011680" cy="438912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669280" y="4636008"/>
            <a:ext cx="6126480" cy="43891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47472" y="4709160"/>
            <a:ext cx="3017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POST /admin/drift-check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611880" y="4709160"/>
            <a:ext cx="19202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C3E50"/>
                </a:solidFill>
              </a:rPr>
              <a:t>ADMIN_API_KEY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742432" y="4709160"/>
            <a:ext cx="5943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</a:rPr>
              <a:t>On-demand PSI drift check across 17 features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74320" y="5212080"/>
            <a:ext cx="11612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2C3E50"/>
                </a:solidFill>
              </a:rPr>
              <a:t>Observed latency (live-tested against running server):  /predict/type ~54ms  ·  /predict/priority ~14ms  ·  /predict/resolution ~15ms  ·  /explain/priority ~27ms  →  all &lt; 500ms target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C3E50"/>
                </a:solidFill>
              </a:rPr>
              <a:t>Two-tier keys: ADMIN_API_KEY (superset) + CSIP_API_KEY (read-only, used by Dash so it never holds admin credentials)  ·  secrets.compare_digest (constant-time comparison, no timing attacks)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C3E50"/>
                </a:solidFill>
              </a:rPr>
              <a:t>lifespan context manager loads all 9 artifacts via run_in_executor (non-blocking event loop)  ·  startup failure → app.state.ready=False + /health 503 instead of container crash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Monitoring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DD8E6"/>
                </a:solidFill>
              </a:rPr>
              <a:t>Prometheus + Grafana + Alertmanager + Evidently PSI Drift Detection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371600"/>
            <a:ext cx="3657600" cy="5120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3A5C"/>
                </a:solidFill>
              </a:rPr>
              <a:t>Prometheus Metrics (5)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83080"/>
            <a:ext cx="3474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2C3E50"/>
                </a:solidFill>
              </a:rPr>
              <a:t>csip_predictions_total (counter)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C3E50"/>
                </a:solidFill>
              </a:rPr>
              <a:t>csip_prediction_latency_seconds (histogram)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C3E50"/>
                </a:solidFill>
              </a:rPr>
              <a:t>csip_prediction_errors_total (counter)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C3E50"/>
                </a:solidFill>
              </a:rPr>
              <a:t>csip_prediction_confidence (histogram)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C3E50"/>
                </a:solidFill>
              </a:rPr>
              <a:t>csip_models_loaded (gauge)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C3E50"/>
                </a:solidFill>
              </a:rPr>
              <a:t>+ 3 drift gauges (PSI per feature,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C3E50"/>
                </a:solidFill>
              </a:rPr>
              <a:t>  max PSI, drift detected flag)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C3E50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C3E50"/>
                </a:solidFill>
              </a:rPr>
              <a:t>5 Alert Rules: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C3E50"/>
                </a:solidFill>
              </a:rPr>
              <a:t>HighPredictionErrorRate  (warn)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C3E50"/>
                </a:solidFill>
              </a:rPr>
              <a:t>HighPredictionLatencyP95 (warn)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C3E50"/>
                </a:solidFill>
              </a:rPr>
              <a:t>FeatureDriftDetected     (warn)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C3E50"/>
                </a:solidFill>
              </a:rPr>
              <a:t>ModelsNotLoaded          (critical)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C3E50"/>
                </a:solidFill>
              </a:rPr>
              <a:t>DriftCheckStale          (info)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C3E50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C3E50"/>
                </a:solidFill>
              </a:rPr>
              <a:t>RUNBOOK.md: diagnosis +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C3E50"/>
                </a:solidFill>
              </a:rPr>
              <a:t>remediation for each alert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0" y="1371600"/>
            <a:ext cx="3749039" cy="5120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0" y="141732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3A5C"/>
                </a:solidFill>
              </a:rPr>
              <a:t>PSI Drift Detection (Evidently)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1783080"/>
            <a:ext cx="3566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2C3E50"/>
                </a:solidFill>
              </a:rPr>
              <a:t>src/monitoring/drift.py: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C3E50"/>
                </a:solidFill>
              </a:rPr>
              <a:t>  • load_baseline() — reads training dist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C3E50"/>
                </a:solidFill>
              </a:rPr>
              <a:t>  • _psi_categorical() / _psi_continuous()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C3E50"/>
                </a:solidFill>
              </a:rPr>
              <a:t>  • check_drift() — returns per-feature PSI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C3E50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C3E50"/>
                </a:solidFill>
              </a:rPr>
              <a:t>Cross-validated vs Evidently 0.4.30: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C3E50"/>
                </a:solidFill>
              </a:rPr>
              <a:t>  • Negative control: 0/17 features drifted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C3E50"/>
                </a:solidFill>
              </a:rPr>
              <a:t>  • Positive control (+2σ on Customer Age):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C3E50"/>
                </a:solidFill>
              </a:rPr>
              <a:t>    1/17 drifted — both methods agree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C3E50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C3E50"/>
                </a:solidFill>
              </a:rPr>
              <a:t>Threshold: PSI ≥ 0.10 = moderate drift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C3E50"/>
                </a:solidFill>
              </a:rPr>
              <a:t>Live test (held-out test split):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C3E50"/>
                </a:solidFill>
              </a:rPr>
              <a:t>  max_psi = 0.088 → no drift ✅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C3E50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C3E50"/>
                </a:solidFill>
              </a:rPr>
              <a:t>16 pytest tests cover all PSI logic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C3E50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C3E50"/>
                </a:solidFill>
              </a:rPr>
              <a:t>POST /admin/drift-check on demand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C3E50"/>
                </a:solidFill>
              </a:rPr>
              <a:t>Daily csip_drift_monitor Airflow DAG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60" y="1371600"/>
            <a:ext cx="3657600" cy="5120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0" y="14173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3A5C"/>
                </a:solidFill>
              </a:rPr>
              <a:t>Grafana Dashboard (6 panels)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1783080"/>
            <a:ext cx="3474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2C3E50"/>
                </a:solidFill>
              </a:rPr>
              <a:t>Auto-provisioned via: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C3E50"/>
                </a:solidFill>
              </a:rPr>
              <a:t>monitoring/grafana/provisioning/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C3E50"/>
                </a:solidFill>
              </a:rPr>
              <a:t>  datasources/ + dashboards/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C3E50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C3E50"/>
                </a:solidFill>
              </a:rPr>
              <a:t>Panels: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C3E50"/>
                </a:solidFill>
              </a:rPr>
              <a:t>  • Prediction rate by task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C3E50"/>
                </a:solidFill>
              </a:rPr>
              <a:t>  • P95 latency over time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C3E50"/>
                </a:solidFill>
              </a:rPr>
              <a:t>  • Error rate by task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C3E50"/>
                </a:solidFill>
              </a:rPr>
              <a:t>  • Confidence distribution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C3E50"/>
                </a:solidFill>
              </a:rPr>
              <a:t>  • Models loaded gauge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C3E50"/>
                </a:solidFill>
              </a:rPr>
              <a:t>  • Feature drift PSI heatmap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C3E50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C3E50"/>
                </a:solidFill>
              </a:rPr>
              <a:t>Alertmanager routing: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C3E50"/>
                </a:solidFill>
              </a:rPr>
              <a:t>  critical → slack-notifications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C3E50"/>
                </a:solidFill>
              </a:rPr>
              <a:t>  (1h repeat interval)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C3E50"/>
                </a:solidFill>
              </a:rPr>
              <a:t>  warning/info → UI only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C3E50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C3E50"/>
                </a:solidFill>
              </a:rPr>
              <a:t>Airflow has independent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C3E50"/>
                </a:solidFill>
              </a:rPr>
              <a:t>  CSIP_ALERT_WEBHOOK path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Airflow Orchestration — 4 DAGs, 26 Tasks Total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371600"/>
            <a:ext cx="2560320" cy="1463040"/>
          </a:xfrm>
          <a:prstGeom prst="rect">
            <a:avLst/>
          </a:prstGeom>
          <a:solidFill>
            <a:srgbClr val="177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14630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csip_etl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" y="1901952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DD8E6"/>
                </a:solidFill>
              </a:rPr>
              <a:t>5 tasks · Daily 02:00 UTC</a:t>
            </a:r>
          </a:p>
        </p:txBody>
      </p:sp>
      <p:sp>
        <p:nvSpPr>
          <p:cNvPr id="7" name="Rectangle 6"/>
          <p:cNvSpPr/>
          <p:nvPr/>
        </p:nvSpPr>
        <p:spPr>
          <a:xfrm>
            <a:off x="2926080" y="1371600"/>
            <a:ext cx="886968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17520" y="1417320"/>
            <a:ext cx="8686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2C3E50"/>
                </a:solidFill>
              </a:rPr>
              <a:t>• clean → validate → postgres_upsert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C3E50"/>
                </a:solidFill>
              </a:rPr>
              <a:t>• → regen_feature_arrays → done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C3E50"/>
                </a:solidFill>
              </a:rPr>
              <a:t>• Writes all 8,469 rows to PostgreSQL tickets table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C3E50"/>
                </a:solidFill>
              </a:rPr>
              <a:t>• NaT→None fix for nullable columns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926080"/>
            <a:ext cx="2560320" cy="14630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" y="30175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csip_drift_monitor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" y="3456432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DD8E6"/>
                </a:solidFill>
              </a:rPr>
              <a:t>6 tasks · Daily 03:00 UTC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26080" y="2926080"/>
            <a:ext cx="886968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17520" y="2971800"/>
            <a:ext cx="8686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2C3E50"/>
                </a:solidFill>
              </a:rPr>
              <a:t>• load_baseline → check_psi →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C3E50"/>
                </a:solidFill>
              </a:rPr>
              <a:t>• 2-branch: no_drift_log | alert_drift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C3E50"/>
                </a:solidFill>
              </a:rPr>
              <a:t>• Reads PSI results from FastAPI /admin/drift-check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C3E50"/>
                </a:solidFill>
              </a:rPr>
              <a:t>• Sends webhook alert if drift detected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4480560"/>
            <a:ext cx="2560320" cy="1463040"/>
          </a:xfrm>
          <a:prstGeom prst="rect">
            <a:avLst/>
          </a:prstGeom>
          <a:solidFill>
            <a:srgbClr val="177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" y="45720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csip_retrain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" y="5010912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DD8E6"/>
                </a:solidFill>
              </a:rPr>
              <a:t>10 tasks · Sunday 02:00 UTC · max_active_runs=1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26080" y="4480560"/>
            <a:ext cx="886968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17520" y="4526280"/>
            <a:ext cx="8686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2C3E50"/>
                </a:solidFill>
              </a:rPr>
              <a:t>• fan-out: retrain LGBM / XGB / RF in parallel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C3E50"/>
                </a:solidFill>
              </a:rPr>
              <a:t>• 3 ShortCircuitOperator PSI gates (per task group)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C3E50"/>
                </a:solidFill>
              </a:rPr>
              <a:t>• → evaluate → 3-branch: promote+regen_baseline | skip | alert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C3E50"/>
                </a:solidFill>
              </a:rPr>
              <a:t>• Atomic shutil.move promotion, .json.bak registry backup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6035040"/>
            <a:ext cx="2560320" cy="14630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7472" y="61264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csip_model_report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" y="6565392"/>
            <a:ext cx="2377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DD8E6"/>
                </a:solidFill>
              </a:rPr>
              <a:t>5 tasks · Sunday 06:00 UTC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926080" y="6035040"/>
            <a:ext cx="886968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017520" y="6080760"/>
            <a:ext cx="8686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2C3E50"/>
                </a:solidFill>
              </a:rPr>
              <a:t>• MLflow pull → build leaderboard →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C3E50"/>
                </a:solidFill>
              </a:rPr>
              <a:t>• update registry JSON → write report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C3E50"/>
                </a:solidFill>
              </a:rPr>
              <a:t>• Reads 47+ runs via search_runs(experiment_ids=[...])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C3E50"/>
                </a:solidFill>
              </a:rPr>
              <a:t>• Generates weekly model comparison report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" y="653796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7F8C8D"/>
                </a:solidFill>
              </a:rPr>
              <a:t>Key decisions: storage=None Optuna studies (no SQLite lock contention in parallel fan-out)  ·  float() XCom cast (np.float64 not JSON-safe)  ·  trigger_rule=NONE_FAILED_MIN_ONE_SUCCESS on evaluate task  ·  fail-open PSI gates (missing metrics file → always retrain)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Docker Compose — 10-Container Full-Stack Deployment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371600"/>
            <a:ext cx="2103120" cy="516635"/>
          </a:xfrm>
          <a:prstGeom prst="rect">
            <a:avLst/>
          </a:prstGeom>
          <a:solidFill>
            <a:srgbClr val="177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468880" y="1371600"/>
            <a:ext cx="2286000" cy="516635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846320" y="1371600"/>
            <a:ext cx="6949440" cy="516635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7472" y="1463040"/>
            <a:ext cx="1920240" cy="4251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postgres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23744" y="1463040"/>
            <a:ext cx="2103120" cy="4251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</a:rPr>
              <a:t>PostgreSQL 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01184" y="1463040"/>
            <a:ext cx="6766560" cy="4251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</a:rPr>
              <a:t>csip + airflow databases (init-multi-db.sh)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888235"/>
            <a:ext cx="2103120" cy="516635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468880" y="1888235"/>
            <a:ext cx="2286000" cy="51663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846320" y="1888235"/>
            <a:ext cx="6949440" cy="51663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" y="1979675"/>
            <a:ext cx="1920240" cy="4251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redis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23744" y="1979675"/>
            <a:ext cx="2103120" cy="4251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</a:rPr>
              <a:t>Redis 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01184" y="1979675"/>
            <a:ext cx="6766560" cy="4251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</a:rPr>
              <a:t>Feature cache  ·  graceful degrade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2404870"/>
            <a:ext cx="2103120" cy="516635"/>
          </a:xfrm>
          <a:prstGeom prst="rect">
            <a:avLst/>
          </a:prstGeom>
          <a:solidFill>
            <a:srgbClr val="177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468880" y="2404870"/>
            <a:ext cx="2286000" cy="516635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846320" y="2404870"/>
            <a:ext cx="6949440" cy="516635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7472" y="2496310"/>
            <a:ext cx="1920240" cy="4251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mlflow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23744" y="2496310"/>
            <a:ext cx="2103120" cy="4251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</a:rPr>
              <a:t>MLflow 2.13.2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01184" y="2496310"/>
            <a:ext cx="6766560" cy="4251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</a:rPr>
              <a:t>Experiment tracking at :5001  ·  custom Dockerfile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2921505"/>
            <a:ext cx="2103120" cy="516635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468880" y="2921505"/>
            <a:ext cx="2286000" cy="51663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846320" y="2921505"/>
            <a:ext cx="6949440" cy="51663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7472" y="3012945"/>
            <a:ext cx="1920240" cy="4251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fastapi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23744" y="3012945"/>
            <a:ext cx="2103120" cy="4251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</a:rPr>
              <a:t>FastAPI (root image)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01184" y="3012945"/>
            <a:ext cx="6766560" cy="4251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</a:rPr>
              <a:t>Full requirements.txt  ·  libgomp1 for LightGBM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3438140"/>
            <a:ext cx="2103120" cy="516635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468880" y="3438140"/>
            <a:ext cx="2286000" cy="516635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846320" y="3438140"/>
            <a:ext cx="6949440" cy="516635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7472" y="3529580"/>
            <a:ext cx="1920240" cy="4251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dash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523744" y="3529580"/>
            <a:ext cx="2103120" cy="4251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</a:rPr>
              <a:t>Plotly Dash (gunicorn)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901184" y="3529580"/>
            <a:ext cx="6766560" cy="4251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</a:rPr>
              <a:t>Trimmed requirements  ·  CSIP_API_KEY (read-only)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3954775"/>
            <a:ext cx="2103120" cy="516635"/>
          </a:xfrm>
          <a:prstGeom prst="rect">
            <a:avLst/>
          </a:prstGeom>
          <a:solidFill>
            <a:srgbClr val="177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468880" y="3954775"/>
            <a:ext cx="2286000" cy="51663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846320" y="3954775"/>
            <a:ext cx="6949440" cy="51663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47472" y="4046215"/>
            <a:ext cx="1920240" cy="4251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prometheus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523744" y="4046215"/>
            <a:ext cx="2103120" cy="4251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</a:rPr>
              <a:t>Prometheus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901184" y="4046215"/>
            <a:ext cx="6766560" cy="4251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</a:rPr>
              <a:t>Scrapes :8000/metrics  ·  5 alert rules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4320" y="4471410"/>
            <a:ext cx="2103120" cy="516635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468880" y="4471410"/>
            <a:ext cx="2286000" cy="516635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846320" y="4471410"/>
            <a:ext cx="6949440" cy="516635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47472" y="4562850"/>
            <a:ext cx="1920240" cy="4251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alertmanager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523744" y="4562850"/>
            <a:ext cx="2103120" cy="4251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</a:rPr>
              <a:t>Alertmanager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901184" y="4562850"/>
            <a:ext cx="6766560" cy="4251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</a:rPr>
              <a:t>Slack webhook (critical)  ·  UI only (warning)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74320" y="4988045"/>
            <a:ext cx="2103120" cy="516635"/>
          </a:xfrm>
          <a:prstGeom prst="rect">
            <a:avLst/>
          </a:prstGeom>
          <a:solidFill>
            <a:srgbClr val="177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2468880" y="4988045"/>
            <a:ext cx="2286000" cy="51663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846320" y="4988045"/>
            <a:ext cx="6949440" cy="51663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47472" y="5079485"/>
            <a:ext cx="1920240" cy="4251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grafana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523744" y="5079485"/>
            <a:ext cx="2103120" cy="4251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</a:rPr>
              <a:t>Grafana 10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901184" y="5079485"/>
            <a:ext cx="6766560" cy="4251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</a:rPr>
              <a:t>6-panel dashboard  ·  auto-provisioned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74320" y="5504680"/>
            <a:ext cx="2103120" cy="516635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2468880" y="5504680"/>
            <a:ext cx="2286000" cy="516635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846320" y="5504680"/>
            <a:ext cx="6949440" cy="516635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47472" y="5596120"/>
            <a:ext cx="1920240" cy="4251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airflow-webserver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523744" y="5596120"/>
            <a:ext cx="2103120" cy="4251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</a:rPr>
              <a:t>Airflow 2.9.3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901184" y="5596120"/>
            <a:ext cx="6766560" cy="4251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</a:rPr>
              <a:t>Constraint-based pip installs  ·  LocalExecutor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74320" y="6021315"/>
            <a:ext cx="2103120" cy="516635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2468880" y="6021315"/>
            <a:ext cx="2286000" cy="51663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846320" y="6021315"/>
            <a:ext cx="6949440" cy="51663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47472" y="6112755"/>
            <a:ext cx="1920240" cy="4251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airflow-scheduler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523744" y="6112755"/>
            <a:ext cx="2103120" cy="4251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</a:rPr>
              <a:t>Airflow Scheduler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901184" y="6112755"/>
            <a:ext cx="6766560" cy="4251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</a:rPr>
              <a:t>All 4 DAGs  ·  selective bind mounts for src/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74320" y="6565392"/>
            <a:ext cx="11612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7F8C8D"/>
                </a:solidFill>
              </a:rPr>
              <a:t>All services: restart: unless-stopped  ·  single bridge network csip-net  ·  model artifacts bind-mounted (not baked) so /admin/reload and Airflow promotions share the same files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7F8C8D"/>
                </a:solidFill>
              </a:rPr>
              <a:t>Real bugs caught during live bring-up: host port 5432 shadowed by native Windows PostgreSQL service → remapped 5433:5432  ·  postgres container recreate crashes airflow-scheduler (SQLAlchemy persistent conn) → manual restart needed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Plotly Dash Dashboard — 6 Pages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ADD8E6"/>
                </a:solidFill>
              </a:rPr>
              <a:t>use_pages=True  ·  def layout() per page (re-reads artifacts on every navigation, zero restart)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371600"/>
            <a:ext cx="2651760" cy="7772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017520" y="1371600"/>
            <a:ext cx="877824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7472" y="1536192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0 — Overview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90672" y="1508760"/>
            <a:ext cx="8595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</a:rPr>
              <a:t>KPI cards from model_registry.json  ·  Section 10 leaderboard notes  ·  live-verified: disk edit of val_f1_macro reflected on next nav with no restart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240280"/>
            <a:ext cx="2651760" cy="777240"/>
          </a:xfrm>
          <a:prstGeom prst="rect">
            <a:avLst/>
          </a:prstGeom>
          <a:solidFill>
            <a:srgbClr val="177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017520" y="2240280"/>
            <a:ext cx="877824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" y="2404872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1 — EDA Gallery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90672" y="2377440"/>
            <a:ext cx="8595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</a:rPr>
              <a:t>14 Section-2 charts (chart_exists() + loading='lazy' placeholders for missing files)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108960"/>
            <a:ext cx="2651760" cy="7772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017520" y="3108960"/>
            <a:ext cx="877824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" y="3273552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2 — Leaderboard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90672" y="3246120"/>
            <a:ext cx="8595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</a:rPr>
              <a:t>Live MLflow leaderboard via dcc.Interval + mlflow_client.get_leaderboard()  ·  'Live (MLflow)' / 'Static fallback' badge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3977640"/>
            <a:ext cx="2651760" cy="777240"/>
          </a:xfrm>
          <a:prstGeom prst="rect">
            <a:avLst/>
          </a:prstGeom>
          <a:solidFill>
            <a:srgbClr val="177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017520" y="3977640"/>
            <a:ext cx="877824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7472" y="4142232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3 — Live Predictions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90672" y="4114800"/>
            <a:ext cx="8595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</a:rPr>
              <a:t>All 4 endpoints called in parallel (ThreadPoolExecutor, max_workers=4)  ·  dbc.Alert warning banner when model_status == 'below_quality_bar'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4846320"/>
            <a:ext cx="2651760" cy="7772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017520" y="4846320"/>
            <a:ext cx="877824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7472" y="5010912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4 — Drift Monitoring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90672" y="4983480"/>
            <a:ext cx="8595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</a:rPr>
              <a:t>3-state UI: Prometheus unreachable → static fallback  ·  -1 → 'no check yet'  ·  &gt;0 → live PSI bar chart vs DRIFT_PSI_THRESHOLD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5715000"/>
            <a:ext cx="2651760" cy="777240"/>
          </a:xfrm>
          <a:prstGeom prst="rect">
            <a:avLst/>
          </a:prstGeom>
          <a:solidFill>
            <a:srgbClr val="177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017520" y="5715000"/>
            <a:ext cx="877824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7472" y="5879592"/>
            <a:ext cx="2468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5 — Clustering &amp; SHAP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90672" y="5852160"/>
            <a:ext cx="8595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C3E50"/>
                </a:solidFill>
              </a:rPr>
              <a:t>K-Means/PCA/t-SNE charts  ·  SHAP beeswarm/waterfall  ·  DistilBERT attention heatmaps  ·  fairness breakdown by Gender/Age/Channel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" y="6537960"/>
            <a:ext cx="11612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7F8C8D"/>
                </a:solidFill>
              </a:rPr>
              <a:t>Tests: tests/test_dash_app.py — 28 tests covering page registry, all 6 layout() renders with zero data files (3-tier fallback), /charts/ traversal-safety, api_client/mlflow_client mocked success+failure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7F8C8D"/>
                </a:solidFill>
              </a:rPr>
              <a:t>Docker: docker/dash/Dockerfile — gunicorn WSGI, CMD gunicorn dash_app.app:server --workers 2 --threads 4 --bind 0.0.0.0:8050 --timeout 30  ·  CSIP_API_KEY only (no ADMIN_API_KEY in Dash container)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Key Findings &amp; Business Insights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371600"/>
            <a:ext cx="5303520" cy="5120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B3A5C"/>
                </a:solidFill>
              </a:rPr>
              <a:t>ML Results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83080"/>
            <a:ext cx="1783080" cy="457200"/>
          </a:xfrm>
          <a:prstGeom prst="rect">
            <a:avLst/>
          </a:prstGeom>
          <a:solidFill>
            <a:srgbClr val="177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856232"/>
            <a:ext cx="17099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Task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0" y="1783080"/>
            <a:ext cx="1143000" cy="457200"/>
          </a:xfrm>
          <a:prstGeom prst="rect">
            <a:avLst/>
          </a:prstGeom>
          <a:solidFill>
            <a:srgbClr val="177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31720" y="1856232"/>
            <a:ext cx="10698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Best Model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74720" y="1783080"/>
            <a:ext cx="2148840" cy="457200"/>
          </a:xfrm>
          <a:prstGeom prst="rect">
            <a:avLst/>
          </a:prstGeom>
          <a:solidFill>
            <a:srgbClr val="177E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20440" y="1856232"/>
            <a:ext cx="20756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</a:rPr>
              <a:t>Metric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240280"/>
            <a:ext cx="17830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313432"/>
            <a:ext cx="17099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</a:rPr>
              <a:t>Ticket Type (5-class)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286000" y="2240280"/>
            <a:ext cx="11430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31720" y="2313432"/>
            <a:ext cx="10698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</a:rPr>
              <a:t>LightGBM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74720" y="2240280"/>
            <a:ext cx="214884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0440" y="2313432"/>
            <a:ext cx="20756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</a:rPr>
              <a:t>F1 = 0.1997 ≈ 0.20 noise floor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697480"/>
            <a:ext cx="1783080" cy="4572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2770632"/>
            <a:ext cx="17099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</a:rPr>
              <a:t>Ticket Type (5-class)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86000" y="2697480"/>
            <a:ext cx="1143000" cy="4572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331720" y="2770632"/>
            <a:ext cx="10698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</a:rPr>
              <a:t>DistilBERT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474720" y="2697480"/>
            <a:ext cx="2148840" cy="4572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520440" y="2770632"/>
            <a:ext cx="20756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</a:rPr>
              <a:t>F1 = 0.1954 ≈ same noise floor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154680"/>
            <a:ext cx="17830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3227832"/>
            <a:ext cx="17099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</a:rPr>
              <a:t>Ticket Priority (4-class)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286000" y="3154680"/>
            <a:ext cx="11430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331720" y="3227832"/>
            <a:ext cx="10698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</a:rPr>
              <a:t>XGBoost ✅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474720" y="3154680"/>
            <a:ext cx="214884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20440" y="3227832"/>
            <a:ext cx="20756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</a:rPr>
              <a:t>F1 = 0.2625  (real signal)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3611880"/>
            <a:ext cx="1783080" cy="4572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3685032"/>
            <a:ext cx="17099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</a:rPr>
              <a:t>Resolution Time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286000" y="3611880"/>
            <a:ext cx="1143000" cy="4572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331720" y="3685032"/>
            <a:ext cx="10698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</a:rPr>
              <a:t>All models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474720" y="3611880"/>
            <a:ext cx="2148840" cy="4572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520440" y="3685032"/>
            <a:ext cx="20756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</a:rPr>
              <a:t>RMSE ≈ 7.09 hrs  R² ≈ −0.02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4069080"/>
            <a:ext cx="178308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920" y="4142232"/>
            <a:ext cx="170992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</a:rPr>
              <a:t>Resolution Time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286000" y="4069080"/>
            <a:ext cx="114300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331720" y="4142232"/>
            <a:ext cx="106984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</a:rPr>
              <a:t>Dummy mean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474720" y="4069080"/>
            <a:ext cx="2148840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520440" y="4142232"/>
            <a:ext cx="207568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C3E50"/>
                </a:solidFill>
              </a:rPr>
              <a:t>RMSE = 7.06 hrs  (marginal winner)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943600" y="1371600"/>
            <a:ext cx="5852160" cy="5120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035040" y="141732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B3A5C"/>
                </a:solidFill>
              </a:rPr>
              <a:t>Business Insights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035040" y="1783080"/>
            <a:ext cx="56692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2C3E50"/>
                </a:solidFill>
              </a:rPr>
              <a:t>1. Automated priority prediction delivers real value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C3E50"/>
                </a:solidFill>
              </a:rPr>
              <a:t>   XGBoost F1=0.2625 vs 0.25 baseline — SHAP confirms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C3E50"/>
                </a:solidFill>
              </a:rPr>
              <a:t>   days_since_purchase as a sensible, explainable driver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C3E50"/>
                </a:solidFill>
              </a:rPr>
              <a:t>   (newer purchases → higher urgency)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C3E50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C3E50"/>
                </a:solidFill>
              </a:rPr>
              <a:t>2. 80% SLA breach rate for Critical tickets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C3E50"/>
                </a:solidFill>
              </a:rPr>
              <a:t>   Strong operational case for automated triage even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C3E50"/>
                </a:solidFill>
              </a:rPr>
              <a:t>   before model accuracy improves further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C3E50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C3E50"/>
                </a:solidFill>
              </a:rPr>
              <a:t>3. Ticket Type labels carry no learnable signal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C3E50"/>
                </a:solidFill>
              </a:rPr>
              <a:t>   4 independent methods confirm — likely synthetic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C3E50"/>
                </a:solidFill>
              </a:rPr>
              <a:t>   assignment in the source dataset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C3E50"/>
                </a:solidFill>
              </a:rPr>
              <a:t>   → API signals this honestly (model_status field)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C3E50"/>
                </a:solidFill>
              </a:rPr>
              <a:t>   → Not hidden or silently worked around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C3E50"/>
                </a:solidFill>
              </a:rPr>
              <a:t/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C3E50"/>
                </a:solidFill>
              </a:rPr>
              <a:t>4. Engineering rigor caught real bugs at every layer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C3E50"/>
                </a:solidFill>
              </a:rPr>
              <a:t>   Preprocessor.pkl wrapper, host port conflict,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C3E50"/>
                </a:solidFill>
              </a:rPr>
              <a:t>   scheduler reconnect failure, stale Docker image —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C3E50"/>
                </a:solidFill>
              </a:rPr>
              <a:t>   all found only by actually running the system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914400"/>
            <a:ext cx="12188952" cy="5029200"/>
          </a:xfrm>
          <a:prstGeom prst="rect">
            <a:avLst/>
          </a:prstGeom>
          <a:solidFill>
            <a:srgbClr val="0D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515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</a:rPr>
              <a:t>What We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9601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✅ End-to-end ML system covering all 3 business tasks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✅ DistilBERT fine-tuning on Colab T4  ·  SHAP + attention explainability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✅ Optuna HPO (6 studies)  ·  MLflow tracking (47+ runs, model registry)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✅ FastAPI serving layer with auth, hot-reload, Prometheus metrics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✅ Prometheus + Grafana + Alertmanager + Evidently drift detection + RUNBOOK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✅ 4 Airflow DAGs with PSI-gated per-task retraining (26 tasks)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✅ 10-container Docker Compose full-stack deployment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✅ 6-page Plotly Dash dashboard  ·  55 pytest tests  ·  GitHub Actions CI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FFFFFF"/>
                </a:solidFill>
              </a:rPr>
              <a:t>✅ Fairness analysis  ·  Dummy baselines  ·  PEP8/flake8 compliance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852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85C1E9"/>
                </a:solidFill>
              </a:rPr>
              <a:t>GitHub:  github.com/PriyaMonisha/AI-Powered-Customer-Support-Intelligence-Platform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